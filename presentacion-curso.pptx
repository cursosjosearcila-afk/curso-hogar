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B9D"/>
    <a:srgbClr val="F7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97" autoAdjust="0"/>
  </p:normalViewPr>
  <p:slideViewPr>
    <p:cSldViewPr snapToGrid="0">
      <p:cViewPr>
        <p:scale>
          <a:sx n="100" d="100"/>
          <a:sy n="100" d="100"/>
        </p:scale>
        <p:origin x="1406" y="-11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13300-BE08-450A-A90D-DDF162201DEF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78C05-3198-4A6D-B88E-051DD88D47F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52369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35200" y="1143000"/>
            <a:ext cx="23876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78C05-3198-4A6D-B88E-051DD88D47F7}" type="slidenum">
              <a:rPr lang="es-VE" smtClean="0"/>
              <a:t>1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0710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35200" y="1143000"/>
            <a:ext cx="23876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78C05-3198-4A6D-B88E-051DD88D47F7}" type="slidenum">
              <a:rPr lang="es-VE" smtClean="0"/>
              <a:t>2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9154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168" y="1643794"/>
            <a:ext cx="6609239" cy="3496839"/>
          </a:xfrm>
        </p:spPr>
        <p:txBody>
          <a:bodyPr anchor="b"/>
          <a:lstStyle>
            <a:lvl1pPr algn="ctr">
              <a:defRPr sz="51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947" y="5275485"/>
            <a:ext cx="5831681" cy="2425002"/>
          </a:xfrm>
        </p:spPr>
        <p:txBody>
          <a:bodyPr/>
          <a:lstStyle>
            <a:lvl1pPr marL="0" indent="0" algn="ctr">
              <a:buNone/>
              <a:defRPr sz="2041"/>
            </a:lvl1pPr>
            <a:lvl2pPr marL="388757" indent="0" algn="ctr">
              <a:buNone/>
              <a:defRPr sz="1701"/>
            </a:lvl2pPr>
            <a:lvl3pPr marL="777514" indent="0" algn="ctr">
              <a:buNone/>
              <a:defRPr sz="1531"/>
            </a:lvl3pPr>
            <a:lvl4pPr marL="1166271" indent="0" algn="ctr">
              <a:buNone/>
              <a:defRPr sz="1360"/>
            </a:lvl4pPr>
            <a:lvl5pPr marL="1555029" indent="0" algn="ctr">
              <a:buNone/>
              <a:defRPr sz="1360"/>
            </a:lvl5pPr>
            <a:lvl6pPr marL="1943786" indent="0" algn="ctr">
              <a:buNone/>
              <a:defRPr sz="1360"/>
            </a:lvl6pPr>
            <a:lvl7pPr marL="2332543" indent="0" algn="ctr">
              <a:buNone/>
              <a:defRPr sz="1360"/>
            </a:lvl7pPr>
            <a:lvl8pPr marL="2721300" indent="0" algn="ctr">
              <a:buNone/>
              <a:defRPr sz="1360"/>
            </a:lvl8pPr>
            <a:lvl9pPr marL="3110057" indent="0" algn="ctr">
              <a:buNone/>
              <a:defRPr sz="136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5147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7831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522" y="2504056"/>
            <a:ext cx="6706433" cy="4178071"/>
          </a:xfrm>
        </p:spPr>
        <p:txBody>
          <a:bodyPr anchor="b"/>
          <a:lstStyle>
            <a:lvl1pPr>
              <a:defRPr sz="51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522" y="6721654"/>
            <a:ext cx="6706433" cy="2197149"/>
          </a:xfrm>
        </p:spPr>
        <p:txBody>
          <a:bodyPr/>
          <a:lstStyle>
            <a:lvl1pPr marL="0" indent="0">
              <a:buNone/>
              <a:defRPr sz="2041">
                <a:solidFill>
                  <a:schemeClr val="tx1"/>
                </a:solidFill>
              </a:defRPr>
            </a:lvl1pPr>
            <a:lvl2pPr marL="38875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2pPr>
            <a:lvl3pPr marL="777514" indent="0">
              <a:buNone/>
              <a:defRPr sz="1531">
                <a:solidFill>
                  <a:schemeClr val="tx1">
                    <a:tint val="75000"/>
                  </a:schemeClr>
                </a:solidFill>
              </a:defRPr>
            </a:lvl3pPr>
            <a:lvl4pPr marL="1166271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5029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786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2543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13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10057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1065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571" y="2673780"/>
            <a:ext cx="3304619" cy="637289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6385" y="2673780"/>
            <a:ext cx="3304619" cy="637289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52333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84" y="534758"/>
            <a:ext cx="6706433" cy="194139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584" y="2462203"/>
            <a:ext cx="3289432" cy="1206688"/>
          </a:xfrm>
        </p:spPr>
        <p:txBody>
          <a:bodyPr anchor="b"/>
          <a:lstStyle>
            <a:lvl1pPr marL="0" indent="0">
              <a:buNone/>
              <a:defRPr sz="2041" b="1"/>
            </a:lvl1pPr>
            <a:lvl2pPr marL="388757" indent="0">
              <a:buNone/>
              <a:defRPr sz="1701" b="1"/>
            </a:lvl2pPr>
            <a:lvl3pPr marL="777514" indent="0">
              <a:buNone/>
              <a:defRPr sz="1531" b="1"/>
            </a:lvl3pPr>
            <a:lvl4pPr marL="1166271" indent="0">
              <a:buNone/>
              <a:defRPr sz="1360" b="1"/>
            </a:lvl4pPr>
            <a:lvl5pPr marL="1555029" indent="0">
              <a:buNone/>
              <a:defRPr sz="1360" b="1"/>
            </a:lvl5pPr>
            <a:lvl6pPr marL="1943786" indent="0">
              <a:buNone/>
              <a:defRPr sz="1360" b="1"/>
            </a:lvl6pPr>
            <a:lvl7pPr marL="2332543" indent="0">
              <a:buNone/>
              <a:defRPr sz="1360" b="1"/>
            </a:lvl7pPr>
            <a:lvl8pPr marL="2721300" indent="0">
              <a:buNone/>
              <a:defRPr sz="1360" b="1"/>
            </a:lvl8pPr>
            <a:lvl9pPr marL="3110057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584" y="3668891"/>
            <a:ext cx="3289432" cy="53963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6385" y="2462203"/>
            <a:ext cx="3305632" cy="1206688"/>
          </a:xfrm>
        </p:spPr>
        <p:txBody>
          <a:bodyPr anchor="b"/>
          <a:lstStyle>
            <a:lvl1pPr marL="0" indent="0">
              <a:buNone/>
              <a:defRPr sz="2041" b="1"/>
            </a:lvl1pPr>
            <a:lvl2pPr marL="388757" indent="0">
              <a:buNone/>
              <a:defRPr sz="1701" b="1"/>
            </a:lvl2pPr>
            <a:lvl3pPr marL="777514" indent="0">
              <a:buNone/>
              <a:defRPr sz="1531" b="1"/>
            </a:lvl3pPr>
            <a:lvl4pPr marL="1166271" indent="0">
              <a:buNone/>
              <a:defRPr sz="1360" b="1"/>
            </a:lvl4pPr>
            <a:lvl5pPr marL="1555029" indent="0">
              <a:buNone/>
              <a:defRPr sz="1360" b="1"/>
            </a:lvl5pPr>
            <a:lvl6pPr marL="1943786" indent="0">
              <a:buNone/>
              <a:defRPr sz="1360" b="1"/>
            </a:lvl6pPr>
            <a:lvl7pPr marL="2332543" indent="0">
              <a:buNone/>
              <a:defRPr sz="1360" b="1"/>
            </a:lvl7pPr>
            <a:lvl8pPr marL="2721300" indent="0">
              <a:buNone/>
              <a:defRPr sz="1360" b="1"/>
            </a:lvl8pPr>
            <a:lvl9pPr marL="3110057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6385" y="3668891"/>
            <a:ext cx="3305632" cy="53963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05672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574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0811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84" y="669608"/>
            <a:ext cx="2507825" cy="2343626"/>
          </a:xfrm>
        </p:spPr>
        <p:txBody>
          <a:bodyPr anchor="b"/>
          <a:lstStyle>
            <a:lvl1pPr>
              <a:defRPr sz="27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5632" y="1446169"/>
            <a:ext cx="3936385" cy="7137830"/>
          </a:xfrm>
        </p:spPr>
        <p:txBody>
          <a:bodyPr/>
          <a:lstStyle>
            <a:lvl1pPr>
              <a:defRPr sz="2721"/>
            </a:lvl1pPr>
            <a:lvl2pPr>
              <a:defRPr sz="2381"/>
            </a:lvl2pPr>
            <a:lvl3pPr>
              <a:defRPr sz="2041"/>
            </a:lvl3pPr>
            <a:lvl4pPr>
              <a:defRPr sz="1701"/>
            </a:lvl4pPr>
            <a:lvl5pPr>
              <a:defRPr sz="1701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584" y="3013234"/>
            <a:ext cx="2507825" cy="5582389"/>
          </a:xfrm>
        </p:spPr>
        <p:txBody>
          <a:bodyPr/>
          <a:lstStyle>
            <a:lvl1pPr marL="0" indent="0">
              <a:buNone/>
              <a:defRPr sz="1360"/>
            </a:lvl1pPr>
            <a:lvl2pPr marL="388757" indent="0">
              <a:buNone/>
              <a:defRPr sz="1190"/>
            </a:lvl2pPr>
            <a:lvl3pPr marL="777514" indent="0">
              <a:buNone/>
              <a:defRPr sz="1020"/>
            </a:lvl3pPr>
            <a:lvl4pPr marL="1166271" indent="0">
              <a:buNone/>
              <a:defRPr sz="850"/>
            </a:lvl4pPr>
            <a:lvl5pPr marL="1555029" indent="0">
              <a:buNone/>
              <a:defRPr sz="850"/>
            </a:lvl5pPr>
            <a:lvl6pPr marL="1943786" indent="0">
              <a:buNone/>
              <a:defRPr sz="850"/>
            </a:lvl6pPr>
            <a:lvl7pPr marL="2332543" indent="0">
              <a:buNone/>
              <a:defRPr sz="850"/>
            </a:lvl7pPr>
            <a:lvl8pPr marL="2721300" indent="0">
              <a:buNone/>
              <a:defRPr sz="850"/>
            </a:lvl8pPr>
            <a:lvl9pPr marL="3110057" indent="0">
              <a:buNone/>
              <a:defRPr sz="8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100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84" y="669608"/>
            <a:ext cx="2507825" cy="2343626"/>
          </a:xfrm>
        </p:spPr>
        <p:txBody>
          <a:bodyPr anchor="b"/>
          <a:lstStyle>
            <a:lvl1pPr>
              <a:defRPr sz="27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5632" y="1446169"/>
            <a:ext cx="3936385" cy="7137830"/>
          </a:xfrm>
        </p:spPr>
        <p:txBody>
          <a:bodyPr anchor="t"/>
          <a:lstStyle>
            <a:lvl1pPr marL="0" indent="0">
              <a:buNone/>
              <a:defRPr sz="2721"/>
            </a:lvl1pPr>
            <a:lvl2pPr marL="388757" indent="0">
              <a:buNone/>
              <a:defRPr sz="2381"/>
            </a:lvl2pPr>
            <a:lvl3pPr marL="777514" indent="0">
              <a:buNone/>
              <a:defRPr sz="2041"/>
            </a:lvl3pPr>
            <a:lvl4pPr marL="1166271" indent="0">
              <a:buNone/>
              <a:defRPr sz="1701"/>
            </a:lvl4pPr>
            <a:lvl5pPr marL="1555029" indent="0">
              <a:buNone/>
              <a:defRPr sz="1701"/>
            </a:lvl5pPr>
            <a:lvl6pPr marL="1943786" indent="0">
              <a:buNone/>
              <a:defRPr sz="1701"/>
            </a:lvl6pPr>
            <a:lvl7pPr marL="2332543" indent="0">
              <a:buNone/>
              <a:defRPr sz="1701"/>
            </a:lvl7pPr>
            <a:lvl8pPr marL="2721300" indent="0">
              <a:buNone/>
              <a:defRPr sz="1701"/>
            </a:lvl8pPr>
            <a:lvl9pPr marL="3110057" indent="0">
              <a:buNone/>
              <a:defRPr sz="1701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584" y="3013234"/>
            <a:ext cx="2507825" cy="5582389"/>
          </a:xfrm>
        </p:spPr>
        <p:txBody>
          <a:bodyPr/>
          <a:lstStyle>
            <a:lvl1pPr marL="0" indent="0">
              <a:buNone/>
              <a:defRPr sz="1360"/>
            </a:lvl1pPr>
            <a:lvl2pPr marL="388757" indent="0">
              <a:buNone/>
              <a:defRPr sz="1190"/>
            </a:lvl2pPr>
            <a:lvl3pPr marL="777514" indent="0">
              <a:buNone/>
              <a:defRPr sz="1020"/>
            </a:lvl3pPr>
            <a:lvl4pPr marL="1166271" indent="0">
              <a:buNone/>
              <a:defRPr sz="850"/>
            </a:lvl4pPr>
            <a:lvl5pPr marL="1555029" indent="0">
              <a:buNone/>
              <a:defRPr sz="850"/>
            </a:lvl5pPr>
            <a:lvl6pPr marL="1943786" indent="0">
              <a:buNone/>
              <a:defRPr sz="850"/>
            </a:lvl6pPr>
            <a:lvl7pPr marL="2332543" indent="0">
              <a:buNone/>
              <a:defRPr sz="850"/>
            </a:lvl7pPr>
            <a:lvl8pPr marL="2721300" indent="0">
              <a:buNone/>
              <a:defRPr sz="850"/>
            </a:lvl8pPr>
            <a:lvl9pPr marL="3110057" indent="0">
              <a:buNone/>
              <a:defRPr sz="8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3617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24642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4396" y="534756"/>
            <a:ext cx="1676608" cy="85119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571" y="534756"/>
            <a:ext cx="4932630" cy="851192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3580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571" y="534758"/>
            <a:ext cx="6706433" cy="1941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571" y="2673780"/>
            <a:ext cx="6706433" cy="6372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571" y="9309407"/>
            <a:ext cx="1749504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574D6-E5BE-4036-A5F7-75049A45A00A}" type="datetimeFigureOut">
              <a:rPr lang="es-VE" smtClean="0"/>
              <a:t>25/02/2026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5659" y="9309407"/>
            <a:ext cx="2624257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91500" y="9309407"/>
            <a:ext cx="1749504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58767-9415-4275-A4BA-EB8690E3550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941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77514" rtl="0" eaLnBrk="1" latinLnBrk="0" hangingPunct="1">
        <a:lnSpc>
          <a:spcPct val="90000"/>
        </a:lnSpc>
        <a:spcBef>
          <a:spcPct val="0"/>
        </a:spcBef>
        <a:buNone/>
        <a:defRPr sz="37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79" indent="-194379" algn="l" defTabSz="777514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1pPr>
      <a:lvl2pPr marL="583136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2pPr>
      <a:lvl3pPr marL="971893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360650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749407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2138164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526922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915679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304436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88757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2pPr>
      <a:lvl3pPr marL="777514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3pPr>
      <a:lvl4pPr marL="1166271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555029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1943786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332543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721300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110057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1EEC6F54-ED91-6764-0E66-840BBA385D36}"/>
              </a:ext>
            </a:extLst>
          </p:cNvPr>
          <p:cNvSpPr/>
          <p:nvPr/>
        </p:nvSpPr>
        <p:spPr>
          <a:xfrm>
            <a:off x="373683" y="0"/>
            <a:ext cx="2134922" cy="10044113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sz="2041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A68255-A9A3-DB68-D745-56B2B6FCB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856" y="1710191"/>
            <a:ext cx="2070782" cy="290035"/>
          </a:xfrm>
        </p:spPr>
        <p:txBody>
          <a:bodyPr>
            <a:noAutofit/>
          </a:bodyPr>
          <a:lstStyle/>
          <a:p>
            <a:r>
              <a:rPr lang="es-MX" sz="1852" dirty="0">
                <a:solidFill>
                  <a:srgbClr val="5F5B9D"/>
                </a:solidFill>
              </a:rPr>
              <a:t>Datos personales</a:t>
            </a:r>
            <a:endParaRPr lang="es-VE" sz="1852" dirty="0">
              <a:solidFill>
                <a:srgbClr val="5F5B9D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91DBD4-B407-DE9A-392B-9EB364F386FA}"/>
              </a:ext>
            </a:extLst>
          </p:cNvPr>
          <p:cNvSpPr/>
          <p:nvPr/>
        </p:nvSpPr>
        <p:spPr>
          <a:xfrm>
            <a:off x="1" y="0"/>
            <a:ext cx="346010" cy="10044113"/>
          </a:xfrm>
          <a:prstGeom prst="rect">
            <a:avLst/>
          </a:prstGeom>
          <a:solidFill>
            <a:srgbClr val="5F5B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sz="2041" dirty="0"/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AB2A26F5-1AF5-3F43-B24C-9ED7251409A1}"/>
              </a:ext>
            </a:extLst>
          </p:cNvPr>
          <p:cNvSpPr/>
          <p:nvPr/>
        </p:nvSpPr>
        <p:spPr>
          <a:xfrm>
            <a:off x="2592158" y="1218097"/>
            <a:ext cx="4775550" cy="4082"/>
          </a:xfrm>
          <a:prstGeom prst="rect">
            <a:avLst/>
          </a:prstGeom>
          <a:solidFill>
            <a:srgbClr val="5F5B9D">
              <a:alpha val="60000"/>
            </a:srgbClr>
          </a:solidFill>
          <a:ln>
            <a:noFill/>
          </a:ln>
          <a:effectLst>
            <a:outerShdw blurRad="50800" dist="25400" dir="4860000" sx="96000" sy="96000" algn="t" rotWithShape="0">
              <a:prstClr val="black">
                <a:alpha val="7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3674" tIns="51838" rIns="103674" bIns="518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VE" sz="2041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579EEC3-5E2C-6A42-6103-D360481E59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"/>
          <a:stretch/>
        </p:blipFill>
        <p:spPr>
          <a:xfrm>
            <a:off x="787482" y="230952"/>
            <a:ext cx="1316726" cy="1439691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CF8F2349-0A1B-1892-DB31-884E52CCFC9B}"/>
              </a:ext>
            </a:extLst>
          </p:cNvPr>
          <p:cNvSpPr txBox="1">
            <a:spLocks/>
          </p:cNvSpPr>
          <p:nvPr/>
        </p:nvSpPr>
        <p:spPr>
          <a:xfrm>
            <a:off x="2503378" y="180251"/>
            <a:ext cx="3419358" cy="788593"/>
          </a:xfrm>
          <a:prstGeom prst="rect">
            <a:avLst/>
          </a:prstGeom>
        </p:spPr>
        <p:txBody>
          <a:bodyPr vert="horz" lIns="103674" tIns="51838" rIns="103674" bIns="51838" rtlCol="0">
            <a:normAutofit fontScale="925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MX" sz="2268" b="1" dirty="0">
                <a:solidFill>
                  <a:srgbClr val="5F5B9D"/>
                </a:solidFill>
              </a:rPr>
              <a:t>Kevin Alberto Carta Velasco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MX" sz="1360" dirty="0"/>
              <a:t>Ingeniero de Sistemas</a:t>
            </a:r>
            <a:endParaRPr lang="es-VE" sz="136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63D1DE6-6CF2-1911-204D-817B7E8E0E08}"/>
              </a:ext>
            </a:extLst>
          </p:cNvPr>
          <p:cNvSpPr txBox="1"/>
          <p:nvPr/>
        </p:nvSpPr>
        <p:spPr>
          <a:xfrm>
            <a:off x="2511853" y="846820"/>
            <a:ext cx="802242" cy="38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52" dirty="0">
                <a:solidFill>
                  <a:srgbClr val="5F5B9D"/>
                </a:solidFill>
              </a:rPr>
              <a:t>Perfil</a:t>
            </a:r>
            <a:endParaRPr lang="es-VE" sz="1852" dirty="0">
              <a:solidFill>
                <a:srgbClr val="5F5B9D"/>
              </a:solidFill>
            </a:endParaRP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369D9A40-7B91-F813-694F-086D34C1805F}"/>
              </a:ext>
            </a:extLst>
          </p:cNvPr>
          <p:cNvSpPr/>
          <p:nvPr/>
        </p:nvSpPr>
        <p:spPr>
          <a:xfrm>
            <a:off x="480722" y="2046631"/>
            <a:ext cx="1741054" cy="4082"/>
          </a:xfrm>
          <a:prstGeom prst="rect">
            <a:avLst/>
          </a:prstGeom>
          <a:solidFill>
            <a:srgbClr val="5F5B9D">
              <a:alpha val="60000"/>
            </a:srgbClr>
          </a:solidFill>
          <a:ln>
            <a:noFill/>
          </a:ln>
          <a:effectLst>
            <a:outerShdw blurRad="50800" dist="25400" dir="4860000" sx="96000" sy="96000" algn="t" rotWithShape="0">
              <a:prstClr val="black">
                <a:alpha val="7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3674" tIns="51838" rIns="103674" bIns="518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VE" sz="2041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2654BD66-4708-64E5-E838-4A0996A86ECD}"/>
              </a:ext>
            </a:extLst>
          </p:cNvPr>
          <p:cNvSpPr txBox="1">
            <a:spLocks/>
          </p:cNvSpPr>
          <p:nvPr/>
        </p:nvSpPr>
        <p:spPr>
          <a:xfrm>
            <a:off x="2597296" y="1322128"/>
            <a:ext cx="4673799" cy="1046470"/>
          </a:xfrm>
          <a:prstGeom prst="rect">
            <a:avLst/>
          </a:prstGeom>
        </p:spPr>
        <p:txBody>
          <a:bodyPr vert="horz" lIns="94091" tIns="47045" rIns="94091" bIns="47045" rtlCol="0">
            <a:noAutofit/>
          </a:bodyPr>
          <a:lstStyle>
            <a:lvl1pPr marL="0" indent="0" algn="ctr" defTabSz="755660" rtl="0" eaLnBrk="1" latinLnBrk="0" hangingPunct="1">
              <a:lnSpc>
                <a:spcPct val="90000"/>
              </a:lnSpc>
              <a:spcBef>
                <a:spcPts val="826"/>
              </a:spcBef>
              <a:buFont typeface="Arial" panose="020B0604020202020204" pitchFamily="34" charset="0"/>
              <a:buNone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83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6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49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32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15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698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481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264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/>
              <a:t>Soy un profesional comprometido con la innovación y optimización de procesos, con formación académica sólida y práctica en la implementación de proyectos, con una trayectoria de 9 años de experiencia en el área. Mi enfoque está en la innovación, la eficiencia operativa y el liderazgo técnico para el logro de objetivos empresariales.</a:t>
            </a:r>
            <a:endParaRPr lang="es-VE" sz="1200" dirty="0">
              <a:solidFill>
                <a:srgbClr val="5F5B9D"/>
              </a:solidFill>
            </a:endParaRPr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066CC006-F75A-629A-93B1-7E49B40418D9}"/>
              </a:ext>
            </a:extLst>
          </p:cNvPr>
          <p:cNvSpPr/>
          <p:nvPr/>
        </p:nvSpPr>
        <p:spPr>
          <a:xfrm>
            <a:off x="2592158" y="2745376"/>
            <a:ext cx="4775550" cy="4082"/>
          </a:xfrm>
          <a:prstGeom prst="rect">
            <a:avLst/>
          </a:prstGeom>
          <a:solidFill>
            <a:srgbClr val="5F5B9D">
              <a:alpha val="60000"/>
            </a:srgbClr>
          </a:solidFill>
          <a:ln>
            <a:noFill/>
          </a:ln>
          <a:effectLst>
            <a:outerShdw blurRad="50800" dist="25400" dir="4860000" sx="96000" sy="96000" algn="t" rotWithShape="0">
              <a:prstClr val="black">
                <a:alpha val="7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3674" tIns="51838" rIns="103674" bIns="518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VE" sz="2041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806F163-84B6-D850-E47F-1280F982E756}"/>
              </a:ext>
            </a:extLst>
          </p:cNvPr>
          <p:cNvSpPr txBox="1"/>
          <p:nvPr/>
        </p:nvSpPr>
        <p:spPr>
          <a:xfrm>
            <a:off x="2511853" y="2374099"/>
            <a:ext cx="1375936" cy="38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52" dirty="0">
                <a:solidFill>
                  <a:srgbClr val="5F5B9D"/>
                </a:solidFill>
              </a:rPr>
              <a:t>Formación</a:t>
            </a:r>
            <a:endParaRPr lang="es-VE" sz="1852" dirty="0">
              <a:solidFill>
                <a:srgbClr val="5F5B9D"/>
              </a:solidFill>
            </a:endParaRPr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F76CB05D-0E0C-B162-1797-4037BB48FFF1}"/>
              </a:ext>
            </a:extLst>
          </p:cNvPr>
          <p:cNvSpPr txBox="1">
            <a:spLocks/>
          </p:cNvSpPr>
          <p:nvPr/>
        </p:nvSpPr>
        <p:spPr>
          <a:xfrm>
            <a:off x="2503378" y="2828006"/>
            <a:ext cx="5264356" cy="825889"/>
          </a:xfrm>
          <a:prstGeom prst="rect">
            <a:avLst/>
          </a:prstGeom>
        </p:spPr>
        <p:txBody>
          <a:bodyPr vert="horz" lIns="94091" tIns="47045" rIns="94091" bIns="47045" rtlCol="0">
            <a:noAutofit/>
          </a:bodyPr>
          <a:lstStyle>
            <a:lvl1pPr marL="0" indent="0" algn="ctr" defTabSz="755660" rtl="0" eaLnBrk="1" latinLnBrk="0" hangingPunct="1">
              <a:lnSpc>
                <a:spcPct val="90000"/>
              </a:lnSpc>
              <a:spcBef>
                <a:spcPts val="826"/>
              </a:spcBef>
              <a:buFont typeface="Arial" panose="020B0604020202020204" pitchFamily="34" charset="0"/>
              <a:buNone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83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6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49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32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15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698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481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264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235" b="1" dirty="0"/>
              <a:t>INGENIERIA DE SISTEMAS		                           </a:t>
            </a:r>
            <a:r>
              <a:rPr lang="es-MX" sz="1235" b="1" dirty="0">
                <a:solidFill>
                  <a:srgbClr val="5F5B9D"/>
                </a:solidFill>
              </a:rPr>
              <a:t>2010 - 2017</a:t>
            </a:r>
          </a:p>
          <a:p>
            <a:pPr algn="l"/>
            <a:r>
              <a:rPr lang="es-MX" sz="1235" dirty="0">
                <a:solidFill>
                  <a:srgbClr val="5F5B9D"/>
                </a:solidFill>
              </a:rPr>
              <a:t>Universidad Nacional Experimental Politécnica de la Fuerza Armada (UNEFA), Maracay Venezuela.</a:t>
            </a:r>
            <a:endParaRPr lang="es-VE" sz="1235" dirty="0">
              <a:solidFill>
                <a:srgbClr val="5F5B9D"/>
              </a:solidFill>
            </a:endParaRPr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A7193135-FFB1-9A32-21D6-E0F83B6743B0}"/>
              </a:ext>
            </a:extLst>
          </p:cNvPr>
          <p:cNvSpPr txBox="1">
            <a:spLocks/>
          </p:cNvSpPr>
          <p:nvPr/>
        </p:nvSpPr>
        <p:spPr>
          <a:xfrm>
            <a:off x="2513832" y="3653916"/>
            <a:ext cx="5264356" cy="607368"/>
          </a:xfrm>
          <a:prstGeom prst="rect">
            <a:avLst/>
          </a:prstGeom>
        </p:spPr>
        <p:txBody>
          <a:bodyPr vert="horz" lIns="94091" tIns="47045" rIns="94091" bIns="47045" rtlCol="0">
            <a:noAutofit/>
          </a:bodyPr>
          <a:lstStyle>
            <a:lvl1pPr marL="0" indent="0" algn="ctr" defTabSz="755660" rtl="0" eaLnBrk="1" latinLnBrk="0" hangingPunct="1">
              <a:lnSpc>
                <a:spcPct val="90000"/>
              </a:lnSpc>
              <a:spcBef>
                <a:spcPts val="826"/>
              </a:spcBef>
              <a:buFont typeface="Arial" panose="020B0604020202020204" pitchFamily="34" charset="0"/>
              <a:buNone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83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6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49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32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15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698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481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264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235" b="1" dirty="0"/>
              <a:t>BACHILLER EN CIENCIAS		                         </a:t>
            </a:r>
            <a:r>
              <a:rPr lang="es-MX" sz="1235" b="1" dirty="0">
                <a:solidFill>
                  <a:srgbClr val="5F5B9D"/>
                </a:solidFill>
              </a:rPr>
              <a:t>2005 – 2010</a:t>
            </a:r>
          </a:p>
          <a:p>
            <a:pPr algn="l"/>
            <a:r>
              <a:rPr lang="es-MX" sz="1235" dirty="0">
                <a:solidFill>
                  <a:srgbClr val="5F5B9D"/>
                </a:solidFill>
              </a:rPr>
              <a:t>U.E.N “Andrés Bello”</a:t>
            </a:r>
          </a:p>
        </p:txBody>
      </p:sp>
      <p:sp>
        <p:nvSpPr>
          <p:cNvPr id="20" name="Rectangle 35">
            <a:extLst>
              <a:ext uri="{FF2B5EF4-FFF2-40B4-BE49-F238E27FC236}">
                <a16:creationId xmlns:a16="http://schemas.microsoft.com/office/drawing/2014/main" id="{E0D579A6-FE17-5ACA-FE91-DEC006EC7A48}"/>
              </a:ext>
            </a:extLst>
          </p:cNvPr>
          <p:cNvSpPr/>
          <p:nvPr/>
        </p:nvSpPr>
        <p:spPr>
          <a:xfrm>
            <a:off x="2592159" y="4731740"/>
            <a:ext cx="4963856" cy="4082"/>
          </a:xfrm>
          <a:prstGeom prst="rect">
            <a:avLst/>
          </a:prstGeom>
          <a:solidFill>
            <a:srgbClr val="5F5B9D">
              <a:alpha val="60000"/>
            </a:srgbClr>
          </a:solidFill>
          <a:ln>
            <a:noFill/>
          </a:ln>
          <a:effectLst>
            <a:outerShdw blurRad="50800" dist="25400" dir="4860000" sx="96000" sy="96000" algn="t" rotWithShape="0">
              <a:prstClr val="black">
                <a:alpha val="7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3674" tIns="51838" rIns="103674" bIns="518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VE" sz="2041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A20F7CA-A0BF-F9B1-C305-209ED408589A}"/>
              </a:ext>
            </a:extLst>
          </p:cNvPr>
          <p:cNvSpPr txBox="1"/>
          <p:nvPr/>
        </p:nvSpPr>
        <p:spPr>
          <a:xfrm>
            <a:off x="2511853" y="4360463"/>
            <a:ext cx="1375936" cy="38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52" dirty="0">
                <a:solidFill>
                  <a:srgbClr val="5F5B9D"/>
                </a:solidFill>
              </a:rPr>
              <a:t>Experiencia</a:t>
            </a:r>
            <a:endParaRPr lang="es-VE" sz="1852" dirty="0">
              <a:solidFill>
                <a:srgbClr val="5F5B9D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7F77E5F-DA29-FF33-3414-A53C7CF16E96}"/>
              </a:ext>
            </a:extLst>
          </p:cNvPr>
          <p:cNvSpPr txBox="1"/>
          <p:nvPr/>
        </p:nvSpPr>
        <p:spPr>
          <a:xfrm>
            <a:off x="2511851" y="6740922"/>
            <a:ext cx="5172247" cy="1401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VE" sz="1235" b="1" dirty="0"/>
              <a:t>Supervisor de proyecto</a:t>
            </a:r>
            <a:r>
              <a:rPr lang="es-VE" sz="1235" dirty="0"/>
              <a:t>				           </a:t>
            </a:r>
            <a:r>
              <a:rPr lang="es-VE" sz="1235" b="1" dirty="0">
                <a:solidFill>
                  <a:srgbClr val="5F5B9D"/>
                </a:solidFill>
              </a:rPr>
              <a:t>nov 2019 – jul 2023</a:t>
            </a:r>
          </a:p>
          <a:p>
            <a:pPr algn="just"/>
            <a:r>
              <a:rPr lang="es-VE" sz="1235" dirty="0">
                <a:solidFill>
                  <a:srgbClr val="5F5B9D"/>
                </a:solidFill>
              </a:rPr>
              <a:t>Stop Security Spa, Santiago de Chile</a:t>
            </a:r>
          </a:p>
          <a:p>
            <a:pPr algn="just"/>
            <a:endParaRPr lang="es-VE" sz="1235" dirty="0"/>
          </a:p>
          <a:p>
            <a:pPr algn="just"/>
            <a:r>
              <a:rPr lang="es-VE" sz="1200" dirty="0"/>
              <a:t>· Supervisor de proyectos en la región metropolitana norte.</a:t>
            </a:r>
          </a:p>
          <a:p>
            <a:pPr algn="just"/>
            <a:r>
              <a:rPr lang="es-VE" sz="1200" dirty="0"/>
              <a:t>· Responsable del manejo de personal y la asignación de tareas.</a:t>
            </a:r>
          </a:p>
          <a:p>
            <a:pPr algn="just"/>
            <a:r>
              <a:rPr lang="es-VE" sz="1200" dirty="0"/>
              <a:t>· Gestión de recepción y entrega de proyectos de seguridad electrónica en cadenas SMU (</a:t>
            </a:r>
            <a:r>
              <a:rPr lang="es-VE" sz="1200" dirty="0" err="1"/>
              <a:t>cctv</a:t>
            </a:r>
            <a:r>
              <a:rPr lang="es-VE" sz="1200" dirty="0"/>
              <a:t> y alarmas) a nivel regional.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78785C-5059-3200-71CC-BB212D992C63}"/>
              </a:ext>
            </a:extLst>
          </p:cNvPr>
          <p:cNvSpPr txBox="1"/>
          <p:nvPr/>
        </p:nvSpPr>
        <p:spPr>
          <a:xfrm>
            <a:off x="2511851" y="8362129"/>
            <a:ext cx="5172247" cy="1395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VE" sz="1235" b="1" dirty="0"/>
              <a:t>Implementador de proyecto</a:t>
            </a:r>
            <a:r>
              <a:rPr lang="es-VE" sz="1235" dirty="0"/>
              <a:t>				         </a:t>
            </a:r>
            <a:r>
              <a:rPr lang="es-VE" sz="1235" b="1" dirty="0">
                <a:solidFill>
                  <a:srgbClr val="5F5B9D"/>
                </a:solidFill>
              </a:rPr>
              <a:t>abr 2018 – sep 2019</a:t>
            </a:r>
          </a:p>
          <a:p>
            <a:pPr algn="just"/>
            <a:r>
              <a:rPr lang="es-MX" sz="1235" dirty="0">
                <a:solidFill>
                  <a:srgbClr val="5F5B9D"/>
                </a:solidFill>
              </a:rPr>
              <a:t>Seguridad Verdadera Comunicaciones y Alarmas Spa , Santiago de Chile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dirty="0"/>
              <a:t>· Contratista en proyectos eléctricos, electrónicos y de comunicaciones de red, incluyendo cableado estructurado y fibra óptica, sistemas de seguridad.</a:t>
            </a:r>
          </a:p>
          <a:p>
            <a:pPr algn="just"/>
            <a:r>
              <a:rPr lang="es-MX" sz="1200" dirty="0"/>
              <a:t>· Asignación y distribución de proyectos por territorio, manejo de proveedores y equipo técnico implementando proyectos en terreno.</a:t>
            </a:r>
            <a:endParaRPr lang="es-VE" sz="1200" dirty="0"/>
          </a:p>
        </p:txBody>
      </p:sp>
      <p:sp>
        <p:nvSpPr>
          <p:cNvPr id="26" name="Subtítulo 2">
            <a:extLst>
              <a:ext uri="{FF2B5EF4-FFF2-40B4-BE49-F238E27FC236}">
                <a16:creationId xmlns:a16="http://schemas.microsoft.com/office/drawing/2014/main" id="{9DF6D601-0609-1918-FD4E-E24992607A2D}"/>
              </a:ext>
            </a:extLst>
          </p:cNvPr>
          <p:cNvSpPr txBox="1">
            <a:spLocks/>
          </p:cNvSpPr>
          <p:nvPr/>
        </p:nvSpPr>
        <p:spPr>
          <a:xfrm>
            <a:off x="556517" y="2168565"/>
            <a:ext cx="1927048" cy="2849408"/>
          </a:xfrm>
          <a:prstGeom prst="rect">
            <a:avLst/>
          </a:prstGeom>
        </p:spPr>
        <p:txBody>
          <a:bodyPr vert="horz" lIns="94091" tIns="47045" rIns="94091" bIns="47045" rtlCol="0">
            <a:noAutofit/>
          </a:bodyPr>
          <a:lstStyle>
            <a:lvl1pPr marL="0" indent="0" algn="ctr" defTabSz="755660" rtl="0" eaLnBrk="1" latinLnBrk="0" hangingPunct="1">
              <a:lnSpc>
                <a:spcPct val="90000"/>
              </a:lnSpc>
              <a:spcBef>
                <a:spcPts val="826"/>
              </a:spcBef>
              <a:buFont typeface="Arial" panose="020B0604020202020204" pitchFamily="34" charset="0"/>
              <a:buNone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83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6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49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32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15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698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481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264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132" dirty="0"/>
              <a:t>Kevin Alberto Carta Velasco</a:t>
            </a:r>
          </a:p>
          <a:p>
            <a:pPr algn="just">
              <a:lnSpc>
                <a:spcPct val="150000"/>
              </a:lnSpc>
            </a:pPr>
            <a:r>
              <a:rPr lang="es-MX" sz="1132" dirty="0"/>
              <a:t>kevincarta009@gmail.com</a:t>
            </a:r>
          </a:p>
          <a:p>
            <a:pPr algn="just">
              <a:lnSpc>
                <a:spcPct val="150000"/>
              </a:lnSpc>
            </a:pPr>
            <a:r>
              <a:rPr lang="es-MX" sz="1132" dirty="0"/>
              <a:t>0424-3559975</a:t>
            </a:r>
          </a:p>
          <a:p>
            <a:pPr algn="just">
              <a:lnSpc>
                <a:spcPct val="150000"/>
              </a:lnSpc>
            </a:pPr>
            <a:r>
              <a:rPr lang="es-MX" sz="1132" dirty="0"/>
              <a:t>Urb. San Jacinto, Maracay</a:t>
            </a:r>
          </a:p>
          <a:p>
            <a:pPr algn="just">
              <a:lnSpc>
                <a:spcPct val="150000"/>
              </a:lnSpc>
            </a:pPr>
            <a:r>
              <a:rPr lang="es-MX" sz="1132" dirty="0"/>
              <a:t>20 de junio de 1994</a:t>
            </a:r>
          </a:p>
          <a:p>
            <a:pPr algn="just">
              <a:lnSpc>
                <a:spcPct val="150000"/>
              </a:lnSpc>
            </a:pPr>
            <a:r>
              <a:rPr lang="es-MX" sz="1132" dirty="0"/>
              <a:t>Venezolano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4EBD9C84-D03D-EB68-8EEF-FE97F8CDC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08" y="2178285"/>
            <a:ext cx="216298" cy="29003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339E703-1943-5450-458B-7BDA4E9CF8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423" r="10207"/>
          <a:stretch/>
        </p:blipFill>
        <p:spPr>
          <a:xfrm>
            <a:off x="398610" y="2628916"/>
            <a:ext cx="230625" cy="198627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85961679-9914-599F-9ABC-00BBE29C0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46" y="2928672"/>
            <a:ext cx="230625" cy="235532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C66392CA-D008-CF9B-65EF-55A55407778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432" r="4420"/>
          <a:stretch/>
        </p:blipFill>
        <p:spPr>
          <a:xfrm>
            <a:off x="391445" y="3347267"/>
            <a:ext cx="229837" cy="198626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812CC37-DD30-ED17-BFC3-C252E596777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524" r="7904"/>
          <a:stretch/>
        </p:blipFill>
        <p:spPr>
          <a:xfrm>
            <a:off x="408244" y="3646194"/>
            <a:ext cx="217559" cy="230304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8EF9F5F3-51B2-209F-D8AE-F9650491A83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3010" t="6615" r="14545" b="5883"/>
          <a:stretch/>
        </p:blipFill>
        <p:spPr>
          <a:xfrm>
            <a:off x="402601" y="4004176"/>
            <a:ext cx="235305" cy="230304"/>
          </a:xfrm>
          <a:prstGeom prst="rect">
            <a:avLst/>
          </a:prstGeom>
        </p:spPr>
      </p:pic>
      <p:sp>
        <p:nvSpPr>
          <p:cNvPr id="39" name="Subtítulo 2">
            <a:extLst>
              <a:ext uri="{FF2B5EF4-FFF2-40B4-BE49-F238E27FC236}">
                <a16:creationId xmlns:a16="http://schemas.microsoft.com/office/drawing/2014/main" id="{4D811613-C268-D3B0-11F3-B03D07376436}"/>
              </a:ext>
            </a:extLst>
          </p:cNvPr>
          <p:cNvSpPr txBox="1">
            <a:spLocks/>
          </p:cNvSpPr>
          <p:nvPr/>
        </p:nvSpPr>
        <p:spPr>
          <a:xfrm>
            <a:off x="372903" y="4741445"/>
            <a:ext cx="2070782" cy="290035"/>
          </a:xfrm>
          <a:prstGeom prst="rect">
            <a:avLst/>
          </a:prstGeom>
        </p:spPr>
        <p:txBody>
          <a:bodyPr vert="horz" lIns="94091" tIns="47045" rIns="94091" bIns="47045" rtlCol="0">
            <a:noAutofit/>
          </a:bodyPr>
          <a:lstStyle>
            <a:lvl1pPr marL="0" indent="0" algn="ctr" defTabSz="755660" rtl="0" eaLnBrk="1" latinLnBrk="0" hangingPunct="1">
              <a:lnSpc>
                <a:spcPct val="90000"/>
              </a:lnSpc>
              <a:spcBef>
                <a:spcPts val="826"/>
              </a:spcBef>
              <a:buFont typeface="Arial" panose="020B0604020202020204" pitchFamily="34" charset="0"/>
              <a:buNone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83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6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49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32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15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698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481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264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52" dirty="0">
                <a:solidFill>
                  <a:srgbClr val="5F5B9D"/>
                </a:solidFill>
              </a:rPr>
              <a:t>Competencias</a:t>
            </a:r>
            <a:endParaRPr lang="es-VE" sz="1852" dirty="0">
              <a:solidFill>
                <a:srgbClr val="5F5B9D"/>
              </a:solidFill>
            </a:endParaRPr>
          </a:p>
        </p:txBody>
      </p:sp>
      <p:sp>
        <p:nvSpPr>
          <p:cNvPr id="40" name="Rectangle 35">
            <a:extLst>
              <a:ext uri="{FF2B5EF4-FFF2-40B4-BE49-F238E27FC236}">
                <a16:creationId xmlns:a16="http://schemas.microsoft.com/office/drawing/2014/main" id="{F41E7EB7-BCA4-F141-C4BA-23949E8F6298}"/>
              </a:ext>
            </a:extLst>
          </p:cNvPr>
          <p:cNvSpPr/>
          <p:nvPr/>
        </p:nvSpPr>
        <p:spPr>
          <a:xfrm>
            <a:off x="480721" y="5077886"/>
            <a:ext cx="1741054" cy="4082"/>
          </a:xfrm>
          <a:prstGeom prst="rect">
            <a:avLst/>
          </a:prstGeom>
          <a:solidFill>
            <a:srgbClr val="5F5B9D">
              <a:alpha val="60000"/>
            </a:srgbClr>
          </a:solidFill>
          <a:ln>
            <a:noFill/>
          </a:ln>
          <a:effectLst>
            <a:outerShdw blurRad="50800" dist="25400" dir="4860000" sx="96000" sy="96000" algn="t" rotWithShape="0">
              <a:prstClr val="black">
                <a:alpha val="7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3674" tIns="51838" rIns="103674" bIns="518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VE" sz="2041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26E736D-7EF9-362A-6D45-482AC1734490}"/>
              </a:ext>
            </a:extLst>
          </p:cNvPr>
          <p:cNvSpPr txBox="1"/>
          <p:nvPr/>
        </p:nvSpPr>
        <p:spPr>
          <a:xfrm>
            <a:off x="360615" y="5274374"/>
            <a:ext cx="1535461" cy="81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1132" dirty="0"/>
              <a:t>Análisis, diseño y administración en bases de datos MySQL/ </a:t>
            </a:r>
            <a:r>
              <a:rPr lang="es-VE" sz="1132" dirty="0" err="1"/>
              <a:t>Sql</a:t>
            </a:r>
            <a:r>
              <a:rPr lang="es-VE" sz="1132" dirty="0"/>
              <a:t> Server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719CC59-B299-4021-5587-3F8FBD6C63E4}"/>
              </a:ext>
            </a:extLst>
          </p:cNvPr>
          <p:cNvSpPr txBox="1"/>
          <p:nvPr/>
        </p:nvSpPr>
        <p:spPr>
          <a:xfrm>
            <a:off x="354529" y="6136847"/>
            <a:ext cx="1623815" cy="81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32" dirty="0"/>
              <a:t>Experiencia en desarrollo e implementaciones de proyectos</a:t>
            </a:r>
            <a:endParaRPr lang="es-VE" sz="1132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A654D04-8190-3DFD-29B1-5C5954CFA3B9}"/>
              </a:ext>
            </a:extLst>
          </p:cNvPr>
          <p:cNvSpPr txBox="1"/>
          <p:nvPr/>
        </p:nvSpPr>
        <p:spPr>
          <a:xfrm>
            <a:off x="342319" y="7049939"/>
            <a:ext cx="1553757" cy="81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1132" dirty="0"/>
              <a:t>UISP </a:t>
            </a:r>
            <a:r>
              <a:rPr lang="es-VE" sz="1132" dirty="0" err="1"/>
              <a:t>Broadband</a:t>
            </a:r>
            <a:r>
              <a:rPr lang="es-VE" sz="1132" dirty="0"/>
              <a:t> Wireless </a:t>
            </a:r>
            <a:r>
              <a:rPr lang="es-VE" sz="1132" dirty="0" err="1"/>
              <a:t>Admin</a:t>
            </a:r>
            <a:r>
              <a:rPr lang="es-VE" sz="1132" dirty="0"/>
              <a:t>, Ingeniería de telecomunicaciones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47D5A33-25C0-D04A-F510-86F93726D53D}"/>
              </a:ext>
            </a:extLst>
          </p:cNvPr>
          <p:cNvSpPr txBox="1"/>
          <p:nvPr/>
        </p:nvSpPr>
        <p:spPr>
          <a:xfrm>
            <a:off x="342319" y="7919930"/>
            <a:ext cx="1623815" cy="45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1132" dirty="0"/>
              <a:t>Implementador de ERP </a:t>
            </a:r>
            <a:r>
              <a:rPr lang="es-VE" sz="1132" dirty="0" err="1"/>
              <a:t>Odoo</a:t>
            </a:r>
            <a:r>
              <a:rPr lang="es-VE" sz="1132" dirty="0"/>
              <a:t> empresarial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BFDF03A-EB05-067E-F11C-F469F4EF80EB}"/>
              </a:ext>
            </a:extLst>
          </p:cNvPr>
          <p:cNvSpPr txBox="1"/>
          <p:nvPr/>
        </p:nvSpPr>
        <p:spPr>
          <a:xfrm>
            <a:off x="342319" y="8791402"/>
            <a:ext cx="1623815" cy="274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1132" dirty="0"/>
              <a:t>Microsoft Excel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FB760A9-F525-AEBE-1492-8D4F68C94289}"/>
              </a:ext>
            </a:extLst>
          </p:cNvPr>
          <p:cNvSpPr txBox="1"/>
          <p:nvPr/>
        </p:nvSpPr>
        <p:spPr>
          <a:xfrm>
            <a:off x="342319" y="9169238"/>
            <a:ext cx="1623815" cy="274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32" dirty="0"/>
              <a:t>Cableado estructurado</a:t>
            </a:r>
            <a:endParaRPr lang="es-VE" sz="1132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73056ED-D070-AF9B-AB03-F06FB6F6D85C}"/>
              </a:ext>
            </a:extLst>
          </p:cNvPr>
          <p:cNvSpPr txBox="1"/>
          <p:nvPr/>
        </p:nvSpPr>
        <p:spPr>
          <a:xfrm>
            <a:off x="342319" y="9514888"/>
            <a:ext cx="1623815" cy="274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32" dirty="0"/>
              <a:t>Circuito cerrado</a:t>
            </a:r>
            <a:endParaRPr lang="es-VE" sz="1132" dirty="0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7F3557F9-30E1-50A8-39F7-30FE42095A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0189" y="5312679"/>
            <a:ext cx="643496" cy="199314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2DE3FAD4-D408-06DE-CE2E-511CEAECBF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0189" y="6187333"/>
            <a:ext cx="643496" cy="174986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C025BC7D-8889-AF63-A07B-FCA6B572BA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0189" y="7100428"/>
            <a:ext cx="643496" cy="149384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4669FCCF-4603-D061-C3BC-70918820478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0189" y="7968247"/>
            <a:ext cx="643496" cy="159450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BC948FD0-80DE-98E8-073F-275790AFDC22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8385" t="14682" b="-1"/>
          <a:stretch/>
        </p:blipFill>
        <p:spPr>
          <a:xfrm>
            <a:off x="1831484" y="8846817"/>
            <a:ext cx="627882" cy="143704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8C765F44-F4F7-45F9-1ED3-131B15B5CA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15803" y="9215983"/>
            <a:ext cx="627882" cy="186927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9D97FD7B-DFA7-9820-FE56-239A1D9E14F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19338" y="9584349"/>
            <a:ext cx="630764" cy="15041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53842B4-B22D-ACCB-8330-BC83080BCFF2}"/>
              </a:ext>
            </a:extLst>
          </p:cNvPr>
          <p:cNvSpPr txBox="1"/>
          <p:nvPr/>
        </p:nvSpPr>
        <p:spPr>
          <a:xfrm>
            <a:off x="2507084" y="4838773"/>
            <a:ext cx="5172247" cy="1992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VE" sz="1235" b="1" dirty="0"/>
              <a:t>Especialista de tecnología</a:t>
            </a:r>
            <a:r>
              <a:rPr lang="es-VE" sz="1235" dirty="0"/>
              <a:t>				           </a:t>
            </a:r>
            <a:r>
              <a:rPr lang="es-VE" sz="1235" b="1" dirty="0">
                <a:solidFill>
                  <a:srgbClr val="5F5B9D"/>
                </a:solidFill>
              </a:rPr>
              <a:t>oct 2023 –  feb 2026</a:t>
            </a:r>
          </a:p>
          <a:p>
            <a:pPr algn="just"/>
            <a:r>
              <a:rPr lang="es-VE" sz="1235" dirty="0">
                <a:solidFill>
                  <a:srgbClr val="5F5B9D"/>
                </a:solidFill>
              </a:rPr>
              <a:t>Alimentos La Giralda, Maracay Venezuela</a:t>
            </a:r>
          </a:p>
          <a:p>
            <a:pPr algn="just"/>
            <a:endParaRPr lang="es-VE" sz="1235" dirty="0"/>
          </a:p>
          <a:p>
            <a:pPr algn="just"/>
            <a:r>
              <a:rPr lang="es-VE" sz="1200" dirty="0"/>
              <a:t>· </a:t>
            </a:r>
            <a:r>
              <a:rPr lang="es-MX" sz="1200" dirty="0"/>
              <a:t>Resolución de problemas críticos.</a:t>
            </a:r>
          </a:p>
          <a:p>
            <a:pPr algn="just"/>
            <a:r>
              <a:rPr lang="es-VE" sz="1200" dirty="0"/>
              <a:t>· </a:t>
            </a:r>
            <a:r>
              <a:rPr lang="es-MX" sz="1200" dirty="0"/>
              <a:t>Mantenimiento y configuración de infraestructura.</a:t>
            </a:r>
          </a:p>
          <a:p>
            <a:pPr algn="just"/>
            <a:r>
              <a:rPr lang="es-VE" sz="1200" dirty="0"/>
              <a:t>· </a:t>
            </a:r>
            <a:r>
              <a:rPr lang="es-MX" sz="1200" dirty="0"/>
              <a:t>Atención al usuario.</a:t>
            </a:r>
          </a:p>
          <a:p>
            <a:pPr algn="just"/>
            <a:r>
              <a:rPr lang="es-VE" sz="1200" dirty="0"/>
              <a:t>· </a:t>
            </a:r>
            <a:r>
              <a:rPr lang="es-MX" sz="1200" dirty="0"/>
              <a:t>Gestión de la red y seguridad.</a:t>
            </a:r>
          </a:p>
          <a:p>
            <a:pPr algn="just"/>
            <a:r>
              <a:rPr lang="es-VE" sz="1200" dirty="0"/>
              <a:t>· </a:t>
            </a:r>
            <a:r>
              <a:rPr lang="es-MX" sz="1200" dirty="0"/>
              <a:t>Documentación y mejora de procesos.</a:t>
            </a:r>
          </a:p>
          <a:p>
            <a:pPr algn="just"/>
            <a:r>
              <a:rPr lang="es-VE" sz="1200" dirty="0"/>
              <a:t>·</a:t>
            </a:r>
            <a:r>
              <a:rPr lang="es-MX" sz="1200" dirty="0"/>
              <a:t> Implementador de ERP </a:t>
            </a:r>
            <a:r>
              <a:rPr lang="es-MX" sz="1200" dirty="0" err="1"/>
              <a:t>Odoo</a:t>
            </a:r>
            <a:r>
              <a:rPr lang="es-MX" sz="1200" dirty="0"/>
              <a:t>.</a:t>
            </a:r>
          </a:p>
          <a:p>
            <a:pPr algn="just"/>
            <a:endParaRPr lang="es-VE" sz="1235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BB4F7A3-6B5F-310C-53C5-A84456FC78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2260" y="8462923"/>
            <a:ext cx="643496" cy="19931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2EBC92A-7C92-05A9-A539-0179D6D5BC46}"/>
              </a:ext>
            </a:extLst>
          </p:cNvPr>
          <p:cNvSpPr txBox="1"/>
          <p:nvPr/>
        </p:nvSpPr>
        <p:spPr>
          <a:xfrm>
            <a:off x="337093" y="8420977"/>
            <a:ext cx="1623815" cy="274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32" dirty="0"/>
              <a:t>Microsoft Dynamics GP</a:t>
            </a:r>
            <a:endParaRPr lang="es-VE" sz="1132" dirty="0"/>
          </a:p>
        </p:txBody>
      </p:sp>
    </p:spTree>
    <p:extLst>
      <p:ext uri="{BB962C8B-B14F-4D97-AF65-F5344CB8AC3E}">
        <p14:creationId xmlns:p14="http://schemas.microsoft.com/office/powerpoint/2010/main" val="1840325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1EEC6F54-ED91-6764-0E66-840BBA385D36}"/>
              </a:ext>
            </a:extLst>
          </p:cNvPr>
          <p:cNvSpPr/>
          <p:nvPr/>
        </p:nvSpPr>
        <p:spPr>
          <a:xfrm>
            <a:off x="360615" y="0"/>
            <a:ext cx="2134922" cy="10044113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sz="2041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91DBD4-B407-DE9A-392B-9EB364F386FA}"/>
              </a:ext>
            </a:extLst>
          </p:cNvPr>
          <p:cNvSpPr/>
          <p:nvPr/>
        </p:nvSpPr>
        <p:spPr>
          <a:xfrm>
            <a:off x="0" y="0"/>
            <a:ext cx="358001" cy="10048195"/>
          </a:xfrm>
          <a:prstGeom prst="rect">
            <a:avLst/>
          </a:prstGeom>
          <a:solidFill>
            <a:srgbClr val="5F5B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sz="2041" dirty="0"/>
          </a:p>
        </p:txBody>
      </p:sp>
      <p:sp>
        <p:nvSpPr>
          <p:cNvPr id="39" name="Subtítulo 2">
            <a:extLst>
              <a:ext uri="{FF2B5EF4-FFF2-40B4-BE49-F238E27FC236}">
                <a16:creationId xmlns:a16="http://schemas.microsoft.com/office/drawing/2014/main" id="{4D811613-C268-D3B0-11F3-B03D07376436}"/>
              </a:ext>
            </a:extLst>
          </p:cNvPr>
          <p:cNvSpPr txBox="1">
            <a:spLocks/>
          </p:cNvSpPr>
          <p:nvPr/>
        </p:nvSpPr>
        <p:spPr>
          <a:xfrm>
            <a:off x="363228" y="1209015"/>
            <a:ext cx="2070782" cy="290035"/>
          </a:xfrm>
          <a:prstGeom prst="rect">
            <a:avLst/>
          </a:prstGeom>
        </p:spPr>
        <p:txBody>
          <a:bodyPr vert="horz" lIns="94091" tIns="47045" rIns="94091" bIns="47045" rtlCol="0">
            <a:noAutofit/>
          </a:bodyPr>
          <a:lstStyle>
            <a:lvl1pPr marL="0" indent="0" algn="ctr" defTabSz="755660" rtl="0" eaLnBrk="1" latinLnBrk="0" hangingPunct="1">
              <a:lnSpc>
                <a:spcPct val="90000"/>
              </a:lnSpc>
              <a:spcBef>
                <a:spcPts val="826"/>
              </a:spcBef>
              <a:buFont typeface="Arial" panose="020B0604020202020204" pitchFamily="34" charset="0"/>
              <a:buNone/>
              <a:defRPr sz="19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83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6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49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32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15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6980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481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2641" indent="0" algn="ctr" defTabSz="75566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52" dirty="0">
                <a:solidFill>
                  <a:srgbClr val="5F5B9D"/>
                </a:solidFill>
              </a:rPr>
              <a:t>Idiomas</a:t>
            </a:r>
            <a:endParaRPr lang="es-VE" sz="1852" dirty="0">
              <a:solidFill>
                <a:srgbClr val="5F5B9D"/>
              </a:solidFill>
            </a:endParaRPr>
          </a:p>
        </p:txBody>
      </p:sp>
      <p:sp>
        <p:nvSpPr>
          <p:cNvPr id="40" name="Rectangle 35">
            <a:extLst>
              <a:ext uri="{FF2B5EF4-FFF2-40B4-BE49-F238E27FC236}">
                <a16:creationId xmlns:a16="http://schemas.microsoft.com/office/drawing/2014/main" id="{F41E7EB7-BCA4-F141-C4BA-23949E8F6298}"/>
              </a:ext>
            </a:extLst>
          </p:cNvPr>
          <p:cNvSpPr/>
          <p:nvPr/>
        </p:nvSpPr>
        <p:spPr>
          <a:xfrm>
            <a:off x="459810" y="1548331"/>
            <a:ext cx="1741054" cy="4082"/>
          </a:xfrm>
          <a:prstGeom prst="rect">
            <a:avLst/>
          </a:prstGeom>
          <a:solidFill>
            <a:srgbClr val="5F5B9D">
              <a:alpha val="60000"/>
            </a:srgbClr>
          </a:solidFill>
          <a:ln>
            <a:noFill/>
          </a:ln>
          <a:effectLst>
            <a:outerShdw blurRad="50800" dist="25400" dir="4860000" sx="96000" sy="96000" algn="t" rotWithShape="0">
              <a:prstClr val="black">
                <a:alpha val="7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3674" tIns="51838" rIns="103674" bIns="518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VE" sz="2041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26E736D-7EF9-362A-6D45-482AC1734490}"/>
              </a:ext>
            </a:extLst>
          </p:cNvPr>
          <p:cNvSpPr txBox="1"/>
          <p:nvPr/>
        </p:nvSpPr>
        <p:spPr>
          <a:xfrm>
            <a:off x="360615" y="1608908"/>
            <a:ext cx="1623815" cy="274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1132" dirty="0"/>
              <a:t>Español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9B44E82-B0BB-ABBD-9A22-5660256798F5}"/>
              </a:ext>
            </a:extLst>
          </p:cNvPr>
          <p:cNvSpPr txBox="1"/>
          <p:nvPr/>
        </p:nvSpPr>
        <p:spPr>
          <a:xfrm>
            <a:off x="342319" y="181135"/>
            <a:ext cx="1623815" cy="45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32" dirty="0"/>
              <a:t>Tendido de fibra óptica terrestre </a:t>
            </a:r>
            <a:endParaRPr lang="es-VE" sz="1132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AFF1729-240B-D5CC-1852-021BBFDCC789}"/>
              </a:ext>
            </a:extLst>
          </p:cNvPr>
          <p:cNvSpPr txBox="1"/>
          <p:nvPr/>
        </p:nvSpPr>
        <p:spPr>
          <a:xfrm>
            <a:off x="342319" y="670919"/>
            <a:ext cx="1623815" cy="274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32" dirty="0"/>
              <a:t>Seguridad electrónica</a:t>
            </a:r>
            <a:endParaRPr lang="es-VE" sz="1132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A89EC91-67B9-5F4C-D02C-0BF06704C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69" y="247321"/>
            <a:ext cx="643496" cy="1378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4BFBE7D-3CB6-7D36-8C26-0CB22A8E8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69" y="752960"/>
            <a:ext cx="643496" cy="13789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5576318-4256-F642-C40D-245F687E4B72}"/>
              </a:ext>
            </a:extLst>
          </p:cNvPr>
          <p:cNvSpPr txBox="1"/>
          <p:nvPr/>
        </p:nvSpPr>
        <p:spPr>
          <a:xfrm>
            <a:off x="2495538" y="1718304"/>
            <a:ext cx="5093982" cy="213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VE" sz="1240" b="1" dirty="0"/>
              <a:t>Especialista de tecnología y soporte técnico                       </a:t>
            </a:r>
            <a:r>
              <a:rPr lang="es-VE" sz="1240" b="1" dirty="0">
                <a:solidFill>
                  <a:srgbClr val="5F5B9D"/>
                </a:solidFill>
              </a:rPr>
              <a:t>ene 2017 – dic 2017</a:t>
            </a:r>
            <a:endParaRPr lang="es-VE" sz="1240" b="1" dirty="0"/>
          </a:p>
          <a:p>
            <a:pPr algn="just"/>
            <a:r>
              <a:rPr lang="es-VE" sz="1240" dirty="0">
                <a:solidFill>
                  <a:srgbClr val="5F5B9D"/>
                </a:solidFill>
              </a:rPr>
              <a:t>Solintex C.A, Maracay Venezuela</a:t>
            </a:r>
          </a:p>
          <a:p>
            <a:pPr algn="just"/>
            <a:endParaRPr lang="es-VE" sz="1200" dirty="0"/>
          </a:p>
          <a:p>
            <a:pPr algn="just"/>
            <a:r>
              <a:rPr lang="es-VE" sz="1200" dirty="0"/>
              <a:t>· Configuración y mantenimiento de sistemas operativos y redes empresariales.</a:t>
            </a:r>
          </a:p>
          <a:p>
            <a:pPr algn="just"/>
            <a:r>
              <a:rPr lang="es-VE" sz="1200" dirty="0"/>
              <a:t>· Realización de instalaciones y mantenimiento preventivo/correctivo de hardware.</a:t>
            </a:r>
          </a:p>
          <a:p>
            <a:pPr algn="just"/>
            <a:r>
              <a:rPr lang="es-VE" sz="1200" dirty="0"/>
              <a:t>· Conservación de canales para la comunicación de datos y soporte presencial/remoto a usuarios</a:t>
            </a:r>
          </a:p>
          <a:p>
            <a:pPr algn="just"/>
            <a:r>
              <a:rPr lang="es-VE" sz="1200" dirty="0"/>
              <a:t>· Implementación de soluciones de seguridad informática para proteger la infraestructura de TI.</a:t>
            </a:r>
          </a:p>
          <a:p>
            <a:pPr algn="just"/>
            <a:r>
              <a:rPr lang="es-VE" sz="1200" dirty="0"/>
              <a:t>· Gestión de inventario y control de equipos tecnológicos y recursos de TI.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0D2D63-5337-68D2-06DC-86EF57289CFE}"/>
              </a:ext>
            </a:extLst>
          </p:cNvPr>
          <p:cNvSpPr txBox="1"/>
          <p:nvPr/>
        </p:nvSpPr>
        <p:spPr>
          <a:xfrm>
            <a:off x="2495538" y="4050408"/>
            <a:ext cx="5093982" cy="219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40" b="1" dirty="0"/>
              <a:t>Ingeniero de implementación			            </a:t>
            </a:r>
            <a:r>
              <a:rPr lang="es-VE" sz="1240" b="1" dirty="0">
                <a:solidFill>
                  <a:srgbClr val="5F5B9D"/>
                </a:solidFill>
              </a:rPr>
              <a:t>ago 2016 – dic 2016</a:t>
            </a:r>
            <a:endParaRPr lang="es-MX" sz="1240" b="1" dirty="0"/>
          </a:p>
          <a:p>
            <a:pPr algn="just"/>
            <a:r>
              <a:rPr lang="es-MX" sz="1240" dirty="0">
                <a:solidFill>
                  <a:srgbClr val="5F5B9D"/>
                </a:solidFill>
              </a:rPr>
              <a:t>CAVIM, Maracay Venezuela</a:t>
            </a:r>
            <a:endParaRPr lang="es-VE" sz="1240" dirty="0"/>
          </a:p>
          <a:p>
            <a:pPr algn="just"/>
            <a:endParaRPr lang="es-MX" sz="1240" dirty="0">
              <a:effectLst/>
            </a:endParaRPr>
          </a:p>
          <a:p>
            <a:pPr algn="just"/>
            <a:r>
              <a:rPr lang="es-MX" sz="1200" dirty="0">
                <a:effectLst/>
              </a:rPr>
              <a:t>· Estudio, diseño e implementación de una red estructurada de telecomunicaciones.</a:t>
            </a:r>
          </a:p>
          <a:p>
            <a:pPr algn="just"/>
            <a:r>
              <a:rPr lang="es-MX" sz="1200" dirty="0">
                <a:effectLst/>
              </a:rPr>
              <a:t>· Capacitación al equipo de trabajo en el uso de herramientas y equipos.</a:t>
            </a:r>
          </a:p>
          <a:p>
            <a:pPr algn="just"/>
            <a:r>
              <a:rPr lang="es-MX" sz="1200" dirty="0">
                <a:effectLst/>
              </a:rPr>
              <a:t>· Realización del primer tendido terrestre de cableado </a:t>
            </a:r>
            <a:r>
              <a:rPr lang="es-MX" sz="1200" dirty="0" err="1">
                <a:effectLst/>
              </a:rPr>
              <a:t>utp</a:t>
            </a:r>
            <a:r>
              <a:rPr lang="es-MX" sz="1200" dirty="0">
                <a:effectLst/>
              </a:rPr>
              <a:t>.</a:t>
            </a:r>
          </a:p>
          <a:p>
            <a:pPr algn="just"/>
            <a:r>
              <a:rPr lang="es-MX" sz="1200" dirty="0">
                <a:effectLst/>
              </a:rPr>
              <a:t>· Documentación detallada de los procedimientos realizados y apoyo en la preparación de reportes para seguimiento de proyectos.</a:t>
            </a:r>
          </a:p>
          <a:p>
            <a:pPr algn="just"/>
            <a:r>
              <a:rPr lang="es-MX" sz="1200" dirty="0">
                <a:effectLst/>
              </a:rPr>
              <a:t>· Preparación de tesis.</a:t>
            </a:r>
          </a:p>
          <a:p>
            <a:pPr algn="just"/>
            <a:endParaRPr lang="es-VE" sz="124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E3FBFF4-16DB-2044-048B-B612832FE4A1}"/>
              </a:ext>
            </a:extLst>
          </p:cNvPr>
          <p:cNvSpPr txBox="1"/>
          <p:nvPr/>
        </p:nvSpPr>
        <p:spPr>
          <a:xfrm>
            <a:off x="2511851" y="157968"/>
            <a:ext cx="5172247" cy="1422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VE" sz="1235" b="1" dirty="0"/>
              <a:t>Curador de datos - ventas</a:t>
            </a:r>
            <a:r>
              <a:rPr lang="es-VE" sz="1235" dirty="0"/>
              <a:t>			                     </a:t>
            </a:r>
            <a:r>
              <a:rPr lang="es-VE" sz="1235" b="1" dirty="0">
                <a:solidFill>
                  <a:srgbClr val="5F5B9D"/>
                </a:solidFill>
              </a:rPr>
              <a:t>ene 2018 – mar 2019</a:t>
            </a:r>
          </a:p>
          <a:p>
            <a:pPr algn="just"/>
            <a:r>
              <a:rPr lang="es-MX" sz="1235" dirty="0">
                <a:solidFill>
                  <a:srgbClr val="5F5B9D"/>
                </a:solidFill>
              </a:rPr>
              <a:t>Tuenti, Guayaquil Ecuador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dirty="0"/>
              <a:t>· Distribución de personal en territorio vs asignaciones de ventas.</a:t>
            </a:r>
          </a:p>
          <a:p>
            <a:pPr algn="just"/>
            <a:r>
              <a:rPr lang="es-MX" sz="1200" dirty="0"/>
              <a:t>· Curador de datos de ventas semanales para entrega de reportería gerencial (KPI) por territorio.</a:t>
            </a:r>
          </a:p>
          <a:p>
            <a:pPr algn="just"/>
            <a:r>
              <a:rPr lang="es-MX" sz="1200" dirty="0"/>
              <a:t>· Análisis y desarrollo de nuevas tácticas de venta.</a:t>
            </a:r>
            <a:endParaRPr lang="es-VE" sz="1200" dirty="0"/>
          </a:p>
        </p:txBody>
      </p:sp>
      <p:sp>
        <p:nvSpPr>
          <p:cNvPr id="2" name="Rectangle 35">
            <a:extLst>
              <a:ext uri="{FF2B5EF4-FFF2-40B4-BE49-F238E27FC236}">
                <a16:creationId xmlns:a16="http://schemas.microsoft.com/office/drawing/2014/main" id="{0B4116ED-B264-DE58-2EB2-DC81D531592A}"/>
              </a:ext>
            </a:extLst>
          </p:cNvPr>
          <p:cNvSpPr/>
          <p:nvPr/>
        </p:nvSpPr>
        <p:spPr>
          <a:xfrm>
            <a:off x="2592159" y="6621398"/>
            <a:ext cx="4963856" cy="4082"/>
          </a:xfrm>
          <a:prstGeom prst="rect">
            <a:avLst/>
          </a:prstGeom>
          <a:solidFill>
            <a:srgbClr val="5F5B9D">
              <a:alpha val="60000"/>
            </a:srgbClr>
          </a:solidFill>
          <a:ln>
            <a:noFill/>
          </a:ln>
          <a:effectLst>
            <a:outerShdw blurRad="50800" dist="25400" dir="4860000" sx="96000" sy="96000" algn="t" rotWithShape="0">
              <a:prstClr val="black">
                <a:alpha val="7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3674" tIns="51838" rIns="103674" bIns="518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VE" sz="2041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C9682A4-CDB2-35D9-09E5-512404710939}"/>
              </a:ext>
            </a:extLst>
          </p:cNvPr>
          <p:cNvSpPr txBox="1"/>
          <p:nvPr/>
        </p:nvSpPr>
        <p:spPr>
          <a:xfrm>
            <a:off x="2511852" y="6250121"/>
            <a:ext cx="2598627" cy="377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52" dirty="0">
                <a:solidFill>
                  <a:srgbClr val="5F5B9D"/>
                </a:solidFill>
              </a:rPr>
              <a:t>Habilidades técnicas</a:t>
            </a:r>
            <a:endParaRPr lang="es-VE" sz="1852" dirty="0">
              <a:solidFill>
                <a:srgbClr val="5F5B9D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9B66813-6DEA-C469-DEDC-48BEFDB98376}"/>
              </a:ext>
            </a:extLst>
          </p:cNvPr>
          <p:cNvSpPr txBox="1"/>
          <p:nvPr/>
        </p:nvSpPr>
        <p:spPr>
          <a:xfrm>
            <a:off x="2495538" y="6745348"/>
            <a:ext cx="5093982" cy="311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200" dirty="0"/>
              <a:t>· Diseño de indicadores KPI.</a:t>
            </a:r>
          </a:p>
          <a:p>
            <a:pPr algn="just">
              <a:lnSpc>
                <a:spcPct val="150000"/>
              </a:lnSpc>
            </a:pPr>
            <a:r>
              <a:rPr lang="es-MX" sz="1200" dirty="0"/>
              <a:t>· ChatGPT Prompt Engineering </a:t>
            </a:r>
            <a:r>
              <a:rPr lang="es-MX" sz="1200" dirty="0" err="1"/>
              <a:t>for</a:t>
            </a:r>
            <a:r>
              <a:rPr lang="es-MX" sz="1200" dirty="0"/>
              <a:t> </a:t>
            </a:r>
            <a:r>
              <a:rPr lang="es-MX" sz="1200" dirty="0" err="1"/>
              <a:t>Developers</a:t>
            </a:r>
            <a:r>
              <a:rPr lang="es-MX" sz="12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s-MX" sz="1200" dirty="0"/>
              <a:t>· CCNA1. EXPLORATION. V4.0. Aspectos Básicos de </a:t>
            </a:r>
            <a:r>
              <a:rPr lang="es-MX" sz="1200" dirty="0" err="1"/>
              <a:t>Networking</a:t>
            </a:r>
            <a:r>
              <a:rPr lang="es-MX" sz="12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s-MX" sz="1200" dirty="0"/>
              <a:t>· Administrador de bases de datos.</a:t>
            </a:r>
          </a:p>
          <a:p>
            <a:pPr algn="just">
              <a:lnSpc>
                <a:spcPct val="150000"/>
              </a:lnSpc>
            </a:pPr>
            <a:r>
              <a:rPr lang="es-MX" sz="1200" dirty="0"/>
              <a:t>· Analista de datos.</a:t>
            </a:r>
          </a:p>
          <a:p>
            <a:pPr algn="just">
              <a:lnSpc>
                <a:spcPct val="150000"/>
              </a:lnSpc>
            </a:pPr>
            <a:r>
              <a:rPr lang="es-MX" sz="1200" dirty="0"/>
              <a:t>· Computo avanzado.</a:t>
            </a:r>
          </a:p>
          <a:p>
            <a:pPr algn="just">
              <a:lnSpc>
                <a:spcPct val="150000"/>
              </a:lnSpc>
            </a:pPr>
            <a:r>
              <a:rPr lang="es-MX" sz="1200" dirty="0"/>
              <a:t>· Instalaciones de fibra óptica y cableado </a:t>
            </a:r>
            <a:r>
              <a:rPr lang="es-MX" sz="1200" dirty="0" err="1"/>
              <a:t>utp</a:t>
            </a:r>
            <a:r>
              <a:rPr lang="es-MX" sz="1200" dirty="0"/>
              <a:t> en planta interna y externa</a:t>
            </a:r>
          </a:p>
          <a:p>
            <a:pPr algn="just">
              <a:lnSpc>
                <a:spcPct val="150000"/>
              </a:lnSpc>
            </a:pPr>
            <a:r>
              <a:rPr lang="es-MX" sz="1200" dirty="0"/>
              <a:t>· Seguridad electrónica, infraestructura de red.</a:t>
            </a:r>
          </a:p>
          <a:p>
            <a:pPr algn="just">
              <a:lnSpc>
                <a:spcPct val="150000"/>
              </a:lnSpc>
            </a:pPr>
            <a:r>
              <a:rPr lang="es-MX" sz="1200" dirty="0"/>
              <a:t>· Habilidades y competencias a través del coaching personal.</a:t>
            </a:r>
          </a:p>
          <a:p>
            <a:pPr algn="just">
              <a:lnSpc>
                <a:spcPct val="150000"/>
              </a:lnSpc>
            </a:pPr>
            <a:r>
              <a:rPr lang="es-MX" sz="1200" dirty="0"/>
              <a:t>· Gestión de proyectos con metodologías agiles y enfoques lean.</a:t>
            </a:r>
            <a:endParaRPr lang="es-VE" sz="1200" dirty="0"/>
          </a:p>
          <a:p>
            <a:pPr algn="just">
              <a:lnSpc>
                <a:spcPct val="150000"/>
              </a:lnSpc>
            </a:pP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36858944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166</TotalTime>
  <Words>686</Words>
  <Application>Microsoft Office PowerPoint</Application>
  <PresentationFormat>Personalizado</PresentationFormat>
  <Paragraphs>85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kevin alberto</dc:creator>
  <cp:lastModifiedBy>TECNOLOGIA</cp:lastModifiedBy>
  <cp:revision>20</cp:revision>
  <dcterms:created xsi:type="dcterms:W3CDTF">2025-08-27T19:38:44Z</dcterms:created>
  <dcterms:modified xsi:type="dcterms:W3CDTF">2026-02-25T12:35:49Z</dcterms:modified>
</cp:coreProperties>
</file>